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 varScale="1">
        <p:scale>
          <a:sx n="195" d="100"/>
          <a:sy n="195" d="100"/>
        </p:scale>
        <p:origin x="21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2FA08-E908-8045-B3E9-BDCFF478D9F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99B27-7750-484D-883A-6DCF4405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6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99B27-7750-484D-883A-6DCF4405C1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SINGAPORE WEATHER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Data Preparation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From Raw Satellite Data to Production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19-Feb-2026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Jin 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3-Channel Download In Progress (56.9%)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Combining satellite cloud patterns with ground sensors to predict rain 10 minutes ahead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9436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23444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Forecast Horizon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737360"/>
            <a:ext cx="123444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17830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Ground Stations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37360"/>
            <a:ext cx="123444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Satellite Bands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737360"/>
            <a:ext cx="123444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7830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Sensor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Data Inputs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3108960"/>
          <a:ext cx="53949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🛰️ Satellite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Himawari-8/9 L1b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B08, B11, B13 bands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📡 Sensor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data.gov.sg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Temp, humidity, rain, PM2.5, wind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📍 Location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GPS embedding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lat/lon + hour/month cycle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Core idea: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Combine satellite imagery (cloud patterns) with ground sensor readings to predict rainfall at any GPS coordinate in Singapore, 10 minutes ahead.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The system evolved from a single-channel IR satellite model to a 3-channel multi-sensor fusion architecture over 11 versions in 25 days.</a:t>
            </a:r>
          </a:p>
          <a:p>
            <a:pPr>
              <a:spcAft>
                <a:spcPts val="2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Key innovation — Local Patch + Coordinate Embedding: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Instead of the entire satellite image, the model crops a 32×32 pixel patch directly above each station, learning 'will the cloud overhead produce rain here?'</a:t>
            </a:r>
          </a:p>
          <a:p>
            <a:pPr>
              <a:spcAft>
                <a:spcPts val="600"/>
              </a:spcAft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Built with React + FastAPI + PyTorch on AWS (EC2 + S3)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Rapid iteration: 11 production releases in 25 days, from idea to multi-channel ML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v0.1.0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Jan 26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Initial full-stack: React + FastAPI, single predict API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v0.2–0.4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1-4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Popular search, path query, sensor limit + logging refactor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v0.5.0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5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deploy, CloudFront proxy, PM2.5 integration, dashboard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v0.6.0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8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pipeline 7-bug fix, Vitest, multi-recipient email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v0.7.0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cache layer + ThreadPool parallel inference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v0.8.0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12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Forecast vs Actual closed-loop verification (SQLite schema)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Quality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v0.9.x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14-15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 sensor, WeightedSampler, wind + cloud animation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Quality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v0.10.0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17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NOAA data source migration + model tuning experiments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v0.11.0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17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Telegram Bot, GCC Terraform, HSD parser (10× perf), 3-ch download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SATELLITE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3 data source migrations reduced storage from 224TB to 6GB while tripling input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5836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Evolution: JAXA → NOAA → AWS Open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v1: JAXA FTP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v2: NOAA ISatSS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v3: AWS L1b 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NetCDF Full Disk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NetCDF L2 tile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HSD .bz2 segment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Size/file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~700MB 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~3MB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~30KB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C13 (1 ch)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C13 (1 ch)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B08+B11+B13 (3 ch)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128×128 .npy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128×128 .npy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41×37 .npy × 3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JAXA account 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 auth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 auth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6-yr raw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224 TB 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968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29 GB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6-yr proc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 GB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Key decisions: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v1 → v2: JAXA FTP was slow and unreliable across the ocean. Migrated to AWS same-region for speed.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v2 → v3: 10.1TB of raw NetCDF accumulated on S3 ($53/mo). Switched to L1b HSD — 23,000× smaller per file, 3 channels instead of 1.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3-channel advantage: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B08 (6.2μm) — Water vapor / moisture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B11 (8.6μm) — Cloud phase (ice vs liquid)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B13 (10.4μm) — Cloud top height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Together, these let the model distinguish rain-producing cumulonimbus from harmless cirrus.</a:t>
            </a:r>
          </a:p>
          <a:p>
            <a:pPr>
              <a:spcAft>
                <a:spcPts val="600"/>
              </a:spcAft>
              <a:defRPr sz="1100" b="1" i="0">
                <a:solidFill>
                  <a:srgbClr val="1B5E20"/>
                </a:solidFill>
                <a:latin typeface="Calibri"/>
              </a:defRPr>
            </a:pPr>
            <a:r>
              <a:t>Expected: +15-25% precision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SENSOR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Sensor features grew from 3 to 7 as the model demanded richer signals for tropical rain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5836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Feature Evolution per Training Phase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6035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Phase 1 (v0.1-v0.4)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🌡️ Temp, 💧 Humidity, 🌧️ Rainfall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Core weather variables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Phase 2 (v0.5)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🏭 PM2.5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Haze + NEA outdoor advisory (PSI&gt;100)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Phase 3 (v0.9.1)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🌬️ Wind Speed, 📐 Dir (sin/cos)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Wind = incoming rain indicator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3389813"/>
            <a:ext cx="5852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481253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Calibri"/>
              </a:defRPr>
            </a:pPr>
            <a:r>
              <a:t>⚠️ Wind encoding: Direction decomposed to sin(θ) + cos(θ) to avoid circular discontinuity (359° ≈ 1°)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254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Data Source APIs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73655"/>
              </p:ext>
            </p:extLst>
          </p:nvPr>
        </p:nvGraphicFramePr>
        <p:xfrm>
          <a:off x="822960" y="4336869"/>
          <a:ext cx="5852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Update Freq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/environment/temperature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(station-level)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/environment/humidity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(station-level)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/environment/rainfall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(station-level)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/environment/pm25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Regional (mapped to station)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/environment/wind-speed + dir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+ sin/cos post-process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98079" y="1456509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Data source: data.gov.sg APIs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5 endpoints returning 3 different JSON structures. Each polled and stored as station-specific CSV files.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69 weather stations across Singapore provide ground truth.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PM2.5 motivation: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Air quality affects visibility; haze correlates with weather patterns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Supports outdoor activity recommendations per NEA safety advice (PSI &gt;100 = reduce outdoor exertion)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Challenges solved: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PM2.5 hourly vs others per-minute → resample all to 10-min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SGT (UTC+8) timestamps vs satellite UTC → conversion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PM2.5 regional structure → map to nearest 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Data flows through 3 quality tiers — from raw ingestion to training-ready and distributable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103120" cy="731520"/>
          </a:xfrm>
          <a:prstGeom prst="roundRect">
            <a:avLst/>
          </a:prstGeom>
          <a:solidFill>
            <a:srgbClr val="4E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EBE9"/>
                </a:solidFill>
                <a:latin typeface="Calibri"/>
              </a:defRPr>
            </a:pPr>
            <a:r>
              <a:t>🟫 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EBE9"/>
                </a:solidFill>
                <a:latin typeface="Calibri"/>
              </a:defRPr>
            </a:pPr>
            <a:r>
              <a:t>Satellite + Sensor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2103120" cy="731520"/>
          </a:xfrm>
          <a:prstGeom prst="round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EFF1"/>
                </a:solidFill>
                <a:latin typeface="Calibri"/>
              </a:defRPr>
            </a:pPr>
            <a:r>
              <a:t>🩶 SILVER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CEFF1"/>
                </a:solidFill>
                <a:latin typeface="Calibri"/>
              </a:defRPr>
            </a:pPr>
            <a:r>
              <a:t>Satellite + Sensor + Combined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2103120" cy="731520"/>
          </a:xfrm>
          <a:prstGeom prst="round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3E0"/>
                </a:solidFill>
                <a:latin typeface="Calibri"/>
              </a:defRPr>
            </a:pPr>
            <a:r>
              <a:t>🥇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3E0"/>
                </a:solidFill>
                <a:latin typeface="Calibri"/>
              </a:defRPr>
            </a:pPr>
            <a:r>
              <a:t>Training +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377440"/>
          <a:ext cx="109727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Key Transformation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🟫 Bronze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Satellite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s3://noaa-himawari8/9/ (public)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HSD .bz2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— raw from AWS Open Data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🟫 Bronze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Sensor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api.data.gov.sg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JSON (3 formats)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— raw API response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🩶 Silver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Satellite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s3://…/processed/satellite-3ch/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41×37 .npy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Decompress→calibrate→crop→validate→S3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🩶 Silver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Sensor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s3://…/processed/sensor/ + CSV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7-feature rows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Parse→SGT→UTC→resample 10-min→fill gaps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🩶 Silver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Time-aligned in S3 processed/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Paired records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Match satellite ↔ sensor ±5 min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🥇 Gold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s3://…/processed/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.npz per station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32×32 patch + 6-step LSTM seq + coord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🥇 Gold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 server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PNG stream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B13 → grayscale cloud animation overlay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DATA CLEANSING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Downloading 6 years of satellite data revealed 5 undocumented issues requiring code-level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400800" cy="47548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⚠️ Issues Not Known Upfront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Code Fix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Missing timestamps on S3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~2-5% slots/day missing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process_slot() returns 'missing'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Himawari-8→9 transition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Bucket + prefix change at 2022-12-13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_get_bucket(dt) auto-switch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H08 vs H09 filename prefix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Download fails if wrong prefix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_s3_key() dynamic prefix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NC files use NC_H08_/H09_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Preprocessing must scan both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Dual glob pattern scan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Sporadic S3 failures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Single slot should not abort day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Per-slot try/except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389120"/>
            <a:ext cx="585216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# Himawari-8/9 auto-switching</a:t>
            </a:r>
          </a:p>
          <a:p>
            <a:pPr>
              <a:spcAft>
                <a:spcPts val="600"/>
              </a:spcAft>
              <a:defRPr sz="900" b="0" i="0">
                <a:solidFill>
                  <a:srgbClr val="FBBF24"/>
                </a:solidFill>
                <a:latin typeface="Calibri"/>
              </a:defRPr>
            </a:pPr>
            <a:r>
              <a:t>H8_END = datetime(2022, 12, 13)</a:t>
            </a:r>
          </a:p>
          <a:p>
            <a:pPr>
              <a:spcAft>
                <a:spcPts val="200"/>
              </a:spcAft>
              <a:defRPr sz="900" b="0" i="0">
                <a:solidFill>
                  <a:srgbClr val="E2E8F0"/>
                </a:solidFill>
                <a:latin typeface="Calibri"/>
              </a:defRPr>
            </a:pPr>
            <a:r>
              <a:t>def _get_bucket(dt):</a:t>
            </a:r>
          </a:p>
          <a:p>
            <a:pPr>
              <a:spcAft>
                <a:spcPts val="200"/>
              </a:spcAft>
              <a:defRPr sz="900" b="0" i="0">
                <a:solidFill>
                  <a:srgbClr val="E2E8F0"/>
                </a:solidFill>
                <a:latin typeface="Calibri"/>
              </a:defRPr>
            </a:pPr>
            <a:r>
              <a:t>    return "noaa-himawari8" if dt &lt; H8_END</a:t>
            </a:r>
          </a:p>
          <a:p>
            <a:pPr>
              <a:spcAft>
                <a:spcPts val="600"/>
              </a:spcAft>
              <a:defRPr sz="900" b="0" i="0">
                <a:solidFill>
                  <a:srgbClr val="E2E8F0"/>
                </a:solidFill>
                <a:latin typeface="Calibri"/>
              </a:defRPr>
            </a:pPr>
            <a:r>
              <a:t>           else "noaa-himawari9"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Key lesson: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When downloading 6 years of historical data across a satellite transition boundary, file naming and bucket locations are not uniform.</a:t>
            </a:r>
          </a:p>
          <a:p>
            <a:pPr>
              <a:spcAft>
                <a:spcPts val="600"/>
              </a:spcAft>
              <a:defRPr sz="1100" b="0" i="0">
                <a:solidFill>
                  <a:srgbClr val="C62828"/>
                </a:solidFill>
                <a:latin typeface="Calibri"/>
              </a:defRPr>
            </a:pPr>
            <a:r>
              <a:t>None of these issues are documented in the AWS Open Data catalog.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The pipeline must be resilient to: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~2-5% of timestamps missing per day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Bucket name changes mid-dataset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Filename prefix changes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Network throttling during burst downloads</a:t>
            </a:r>
          </a:p>
          <a:p>
            <a:pPr>
              <a:spcAft>
                <a:spcPts val="600"/>
              </a:spcAft>
              <a:defRPr sz="1100" b="1" i="0">
                <a:solidFill>
                  <a:srgbClr val="1B5E20"/>
                </a:solidFill>
                <a:latin typeface="Calibri"/>
              </a:defRPr>
            </a:pPr>
            <a:r>
              <a:t>Current: 1273/2239 days (56.9%), ETA ~Feb 20. Zero failed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Each region gets its own model trained on local satellite + sensor data to capture Singapore's microclimates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400800" cy="47548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📍 Station Selection per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Why This Site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S66 (Tengah)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Sumatra squall landfall. Open terrain, ~98% completeness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S77 (Marina Bay)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Busiest pedestrian area — highest user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S107 (East Coast)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Coastal, NE monsoon exposure. Sea-land boundary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S104 (Woodlands)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Near Johor Strait — Malaysia weather arrives first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023360"/>
            <a:ext cx="585216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Selection: (1) Data completeness  (2) Geographic spread  (3) Pedestrian relevance  (4) Microclimate diversity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585216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# Each station generates its own training dataset</a:t>
            </a:r>
          </a:p>
          <a:p>
            <a:pPr>
              <a:spcAft>
                <a:spcPts val="600"/>
              </a:spcAft>
              <a:defRPr sz="900" b="0" i="0">
                <a:solidFill>
                  <a:srgbClr val="4ADE80"/>
                </a:solidFill>
                <a:latin typeface="Calibri"/>
              </a:defRPr>
            </a:pPr>
            <a:r>
              <a:t>python3 prepare_station_data.py --station S66  # West</a:t>
            </a:r>
          </a:p>
          <a:p>
            <a:pPr>
              <a:spcAft>
                <a:spcPts val="600"/>
              </a:spcAft>
              <a:defRPr sz="900" b="0" i="0">
                <a:solidFill>
                  <a:srgbClr val="4ADE80"/>
                </a:solidFill>
                <a:latin typeface="Calibri"/>
              </a:defRPr>
            </a:pPr>
            <a:r>
              <a:t>python3 prepare_station_data.py --station S77  # Central</a:t>
            </a:r>
          </a:p>
          <a:p>
            <a:pPr>
              <a:spcAft>
                <a:spcPts val="600"/>
              </a:spcAft>
              <a:defRPr sz="900" b="0" i="0">
                <a:solidFill>
                  <a:srgbClr val="4ADE80"/>
                </a:solidFill>
                <a:latin typeface="Calibri"/>
              </a:defRPr>
            </a:pPr>
            <a:r>
              <a:t>python3 prepare_station_data.py --station S107 # 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Why per-station training?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Singapore is small (~50km) but microclimates differ significantly. A single model averaging all stations loses local patterns.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Each station's training data pairs its sensor readings with a 32×32 satellite patch directly overhead.</a:t>
            </a:r>
          </a:p>
          <a:p>
            <a:pPr>
              <a:spcAft>
                <a:spcPts val="600"/>
              </a:spcAft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The model learns "will it rain at this location" rather than "will it rain somewhere in Singapore."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Singapore weather context: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Convective afternoon rain (2-6 PM daily)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NE Monsoon (Dec-Mar): persistent rain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SW Monsoon (Jun-Sep): Sumatra squalls from west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Rain/dry imbalance: ~13% rain at 1.0mm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ENSO cycle: need 6 years to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MODEL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6 architecture experiments to maximize F1 — the balance between catching real rain and avoiding false alarms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39"/>
            <a:ext cx="6400800" cy="2592977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🧪 Architecture Iterations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Conv2d + GAP + LSTM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55.7%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Starting 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Spatial Attention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57.7%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Better cloud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Deeper CNN (5 layers)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55.8%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 Overfits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Residual Blocks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54.5%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 Too shallow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R4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Local Patch + Coord Embed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61.5%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BEST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Dropout2d in CNN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 Patch too 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72000"/>
            <a:ext cx="64008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🎯 Rain Threshold Evolution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5029200"/>
          <a:ext cx="5852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Rain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0.1mm/10min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Too sensitive — drizzle/dew triggers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5.0mm/10min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Too strict — only 2% positive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1.0mm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61.5%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'Need an umbrella' rain 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What is F1 Score?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F1 is the harmonic mean of Precision and Recall — the single best metric for imbalanced classification like rain prediction: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Precision: When we say 'it will rain', how often are we right?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Recall: Of all actual rain events, how many did we catch?</a:t>
            </a:r>
          </a:p>
          <a:p>
            <a:pPr>
              <a:spcAft>
                <a:spcPts val="600"/>
              </a:spcAft>
              <a:defRPr sz="1100" b="1" i="0">
                <a:solidFill>
                  <a:srgbClr val="0D47A1"/>
                </a:solidFill>
                <a:latin typeface="Calibri"/>
              </a:defRPr>
            </a:pPr>
            <a:r>
              <a:t>• F1 = 2 × (Precision × Recall) / (Precision + Recall)</a:t>
            </a:r>
          </a:p>
          <a:p>
            <a:pPr>
              <a:spcAft>
                <a:spcPts val="60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Why F1 matters for this product: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Low Precision → too many false alarms → users ignore alerts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Low Recall → missed rain events → users get caught in rain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F1 penalizes both equally — the user experience sweet spot</a:t>
            </a:r>
          </a:p>
          <a:p>
            <a:pPr>
              <a:spcAft>
                <a:spcPts val="600"/>
              </a:spcAft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R4 breakthrough: Local Patch + Coord Embedding forces the model to focus on the cloud directly overhead + time-of-day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Minimal viable infrastructure: 3 purpose-built servers at $78/month beat managed platforms for our data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400800" cy="23774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🏗️ Server Topology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5852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API Server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t3.medium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FastAPI + React frontend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~$1/mo (free tier)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g4dn.xlarge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GPU training (NVIDIA T4)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~$62/mo (Spot)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Download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t3.xlarge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Satellite data ingestion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~$15/mo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023360"/>
            <a:ext cx="6400800" cy="2194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💰 Cost Optimization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572000"/>
          <a:ext cx="49377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Saving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S3 raw NC cleanup (10.1TB)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$53/mo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&lt;$1/mo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GPU Spot vs On-Demand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$210/mo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$62/mo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HSD parser: 3d vs 13d download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$65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Why not Databricks / Snowflake?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Data volume (~6GB) too small for cluster overhead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Custom binary format (.npy) doesn't fit SQL/tabular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Need direct GPU access for custom CNN+LSTM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Managed platforms add $100-200/mo without benefit</a:t>
            </a:r>
          </a:p>
          <a:p>
            <a:pPr>
              <a:spcAft>
                <a:spcPts val="60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Key decisions: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3-server split: decouple data-intensive from latency-sensitive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S3 as data lake: "Just-in-Time" processing (150GB raw → 5MB patches → purge)</a:t>
            </a:r>
          </a:p>
          <a:p>
            <a:pPr>
              <a:spcAft>
                <a:spcPts val="600"/>
              </a:spcAft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t>• Spot Instance for training: 70% cost saving, acceptable for batch ML</a:t>
            </a:r>
          </a:p>
          <a:p>
            <a:pPr>
              <a:spcAft>
                <a:spcPts val="600"/>
              </a:spcAft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Reconsider managed platforms at &gt;100GB or team size &gt;3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6 targeted improvements to push F1 from 61.5% to 72-78% — catching more rain while reducing false alarms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Current (R4)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Target (R5)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Expected Impact on F1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3-channel input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B13 IR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B08+B11+B13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+15-25% Precision — distinguish cloud types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6× more data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~395K (1 yr)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~2.4M (6 yr)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ENSO cycle → better generalization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Weighted loss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MSE (equal)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3× penalty for missed rain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↑ Recall: reduce 164 missed rain events (FN)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Multi-frame input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frame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frames (t-20,t-10,t)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Learn cloud movement → better Precision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Asymmetric sampling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50:50 rain:dry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60:40 + oversample heavy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↑ Recall for heavy rain (&lt;2% of samples)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Chronological split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80:20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 2020-24, val 2025-26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Real-world F1: predict future from past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754880"/>
            <a:ext cx="10058400" cy="13716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E2E8F0"/>
                </a:solidFill>
                <a:latin typeface="Calibri"/>
              </a:defRPr>
            </a:pPr>
            <a:r>
              <a:t>Expected: F1  61.5% (R4)  →  ~72-78% (R5)    |    Based on published CNN+LSTM literature with multi-channel satellite input</a:t>
            </a:r>
          </a:p>
          <a:p>
            <a:pPr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F1 Score = harmonic mean of Precision (are our rain alerts correct?) and Recall (did we catch all the rain?). Higher F1 = fewer false alarms AND fewer missed rain events — directly translating to user trust and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SINGAPORE WEATHER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Data Preparation Report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19-Feb-2026  |  Jin 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📄 Full report: report.html   |   📁 Reference docs: reference/*.html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Official Closed / Non-Sensitive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2377</Words>
  <Application>Microsoft Macintosh PowerPoint</Application>
  <PresentationFormat>Widescreen</PresentationFormat>
  <Paragraphs>466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 Hui</cp:lastModifiedBy>
  <cp:revision>2</cp:revision>
  <dcterms:created xsi:type="dcterms:W3CDTF">2013-01-27T09:14:16Z</dcterms:created>
  <dcterms:modified xsi:type="dcterms:W3CDTF">2026-02-19T14:07:27Z</dcterms:modified>
  <cp:category/>
</cp:coreProperties>
</file>