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1pPr>
    <a:lvl2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2pPr>
    <a:lvl3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3pPr>
    <a:lvl4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4pPr>
    <a:lvl5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5pPr>
    <a:lvl6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6pPr>
    <a:lvl7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7pPr>
    <a:lvl8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8pPr>
    <a:lvl9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53585F"/>
        </a:solidFill>
        <a:effectLst/>
        <a:uFillTx/>
        <a:latin typeface="Produkt Extralight"/>
        <a:ea typeface="Produkt Extralight"/>
        <a:cs typeface="Produkt Extralight"/>
        <a:sym typeface="Produkt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E2E6"/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E6E0"/>
          </a:solidFill>
        </a:fill>
      </a:tcStyle>
    </a:wholeTbl>
    <a:band2H>
      <a:tcTxStyle b="def" i="def"/>
      <a:tcStyle>
        <a:tcBdr/>
        <a:fill>
          <a:solidFill>
            <a:srgbClr val="EEF3F0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6DCE4"/>
          </a:solidFill>
        </a:fill>
      </a:tcStyle>
    </a:wholeTbl>
    <a:band2H>
      <a:tcTxStyle b="def" i="def"/>
      <a:tcStyle>
        <a:tcBdr/>
        <a:fill>
          <a:solidFill>
            <a:srgbClr val="F3EEF2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0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358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solidFill>
            <a:srgbClr val="53585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solidFill>
            <a:srgbClr val="53585F">
              <a:alpha val="20000"/>
            </a:srgbClr>
          </a:solidFill>
        </a:fill>
      </a:tcStyle>
    </a:firstCol>
    <a:lastRow>
      <a:tcTxStyle b="on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50800" cap="flat">
              <a:solidFill>
                <a:srgbClr val="53585F"/>
              </a:solidFill>
              <a:prstDash val="solid"/>
              <a:round/>
            </a:ln>
          </a:top>
          <a:bottom>
            <a:ln w="127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odukt Extralight"/>
          <a:ea typeface="Produkt Extralight"/>
          <a:cs typeface="Produkt Extralight"/>
        </a:font>
        <a:srgbClr val="53585F"/>
      </a:tcTxStyle>
      <a:tcStyle>
        <a:tcBdr>
          <a:left>
            <a:ln w="12700" cap="flat">
              <a:solidFill>
                <a:srgbClr val="53585F"/>
              </a:solidFill>
              <a:prstDash val="solid"/>
              <a:round/>
            </a:ln>
          </a:left>
          <a:right>
            <a:ln w="12700" cap="flat">
              <a:solidFill>
                <a:srgbClr val="53585F"/>
              </a:solidFill>
              <a:prstDash val="solid"/>
              <a:round/>
            </a:ln>
          </a:right>
          <a:top>
            <a:ln w="12700" cap="flat">
              <a:solidFill>
                <a:srgbClr val="53585F"/>
              </a:solidFill>
              <a:prstDash val="solid"/>
              <a:round/>
            </a:ln>
          </a:top>
          <a:bottom>
            <a:ln w="25400" cap="flat">
              <a:solidFill>
                <a:srgbClr val="53585F"/>
              </a:solidFill>
              <a:prstDash val="solid"/>
              <a:round/>
            </a:ln>
          </a:bottom>
          <a:insideH>
            <a:ln w="12700" cap="flat">
              <a:solidFill>
                <a:srgbClr val="53585F"/>
              </a:solidFill>
              <a:prstDash val="solid"/>
              <a:round/>
            </a:ln>
          </a:insideH>
          <a:insideV>
            <a:ln w="12700" cap="flat">
              <a:solidFill>
                <a:srgbClr val="53585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6500" y="12268950"/>
            <a:ext cx="21971000" cy="660402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343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2915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487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059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Body Level One…"/>
          <p:cNvSpPr txBox="1"/>
          <p:nvPr>
            <p:ph type="body" sz="quarter" idx="2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5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Body Level One…"/>
          <p:cNvSpPr txBox="1"/>
          <p:nvPr>
            <p:ph type="body" sz="quarter" idx="1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343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2915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487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05989" indent="-377189" defTabSz="825500">
              <a:spcBef>
                <a:spcPts val="0"/>
              </a:spcBef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Body Level One…"/>
          <p:cNvSpPr txBox="1"/>
          <p:nvPr>
            <p:ph type="body" sz="quarter" idx="22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Presentation Subtitle</a:t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5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22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014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ody Level One…"/>
          <p:cNvSpPr txBox="1"/>
          <p:nvPr>
            <p:ph type="body" sz="quarter" idx="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10858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15430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0002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457450" indent="-628650" defTabSz="825500">
              <a:spcBef>
                <a:spcPts val="0"/>
              </a:spcBef>
              <a:defRPr sz="55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9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Agenda Topics</a:t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99" sz="5500"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  <a:lvl2pPr marL="868679" indent="-411479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2pPr>
            <a:lvl3pPr marL="1325879" indent="-411479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3pPr>
            <a:lvl4pPr marL="1783079" indent="-411479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4pPr>
            <a:lvl5pPr marL="2240279" indent="-411479" defTabSz="825500">
              <a:spcBef>
                <a:spcPts val="0"/>
              </a:spcBef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quarter" idx="2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/>
          <a:p>
            <a:pPr lvl="4" marL="0" indent="1493520" defTabSz="1463040">
              <a:lnSpc>
                <a:spcPct val="90000"/>
              </a:lnSpc>
              <a:spcBef>
                <a:spcPts val="0"/>
              </a:spcBef>
              <a:buSzTx/>
              <a:buNone/>
              <a:defRPr spc="-60" sz="5580">
                <a:latin typeface="Produkt Extralight"/>
                <a:ea typeface="Produkt Extralight"/>
                <a:cs typeface="Produkt Extralight"/>
                <a:sym typeface="Produkt Extralight"/>
              </a:defRPr>
            </a:pPr>
            <a:r>
              <a:t>“Notable Quote”
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2" y="3632200"/>
            <a:ext cx="9677402" cy="64572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7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solidFill>
                  <a:srgbClr val="535860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1pPr>
      <a:lvl2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2pPr>
      <a:lvl3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3pPr>
      <a:lvl4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4pPr>
      <a:lvl5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5pPr>
      <a:lvl6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6pPr>
      <a:lvl7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7pPr>
      <a:lvl8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8pPr>
      <a:lvl9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535860"/>
          </a:solidFill>
          <a:uFillTx/>
          <a:latin typeface="Produkt Extralight"/>
          <a:ea typeface="Produkt Extralight"/>
          <a:cs typeface="Produkt Extralight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535860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3.0.28.161:8000/" TargetMode="External"/><Relationship Id="rId3" Type="http://schemas.openxmlformats.org/officeDocument/2006/relationships/hyperlink" Target="http://3.0.28.161:8000/training" TargetMode="External"/><Relationship Id="rId4" Type="http://schemas.openxmlformats.org/officeDocument/2006/relationships/hyperlink" Target="http://data.gov.sg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sz="quarter" idx="1"/>
          </p:nvPr>
        </p:nvSpPr>
        <p:spPr>
          <a:xfrm>
            <a:off x="1206500" y="12268950"/>
            <a:ext cx="21971000" cy="6604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Weather AI App"/>
          <p:cNvSpPr txBox="1"/>
          <p:nvPr>
            <p:ph type="title"/>
          </p:nvPr>
        </p:nvSpPr>
        <p:spPr>
          <a:xfrm>
            <a:off x="1206499" y="2616200"/>
            <a:ext cx="21971006" cy="4648200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Weather AI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eather AI provides 5 features to provide weather at fingertip"/>
          <p:cNvSpPr txBox="1"/>
          <p:nvPr>
            <p:ph type="title"/>
          </p:nvPr>
        </p:nvSpPr>
        <p:spPr>
          <a:xfrm>
            <a:off x="1206499" y="634999"/>
            <a:ext cx="20406568" cy="1208730"/>
          </a:xfrm>
          <a:prstGeom prst="rect">
            <a:avLst/>
          </a:prstGeom>
        </p:spPr>
        <p:txBody>
          <a:bodyPr/>
          <a:lstStyle>
            <a:lvl1pPr defTabSz="1414272">
              <a:defRPr sz="5800"/>
            </a:lvl1pPr>
          </a:lstStyle>
          <a:p>
            <a:pPr/>
            <a:r>
              <a:t>Weather AI provides 5 features to provide weather at fingertip </a:t>
            </a:r>
          </a:p>
        </p:txBody>
      </p:sp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78716" y="3124199"/>
            <a:ext cx="19532602" cy="746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Weather Forecast displays 4 types of data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048511">
              <a:defRPr sz="4900"/>
            </a:pPr>
            <a:r>
              <a:t>Weather Forecast displays 4 types of data </a:t>
            </a:r>
          </a:p>
          <a:p>
            <a:pPr defTabSz="1048511">
              <a:defRPr sz="4900"/>
            </a:pPr>
            <a:r>
              <a:t>impacting on outdoors Activity </a:t>
            </a:r>
          </a:p>
        </p:txBody>
      </p:sp>
      <p:pic>
        <p:nvPicPr>
          <p:cNvPr id="17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4400" y="3416300"/>
            <a:ext cx="17475200" cy="6883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ath / Route Search makes the search easi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97022">
              <a:defRPr sz="8600"/>
            </a:lvl1pPr>
          </a:lstStyle>
          <a:p>
            <a:pPr/>
            <a:r>
              <a:t>Path / Route Search makes the search easier</a:t>
            </a:r>
          </a:p>
        </p:txBody>
      </p:sp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5841" y="2581019"/>
            <a:ext cx="20857919" cy="6039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35669" y="2359607"/>
            <a:ext cx="7495406" cy="100579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ath / Route Search makes the search easi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97022">
              <a:defRPr sz="8600"/>
            </a:lvl1pPr>
          </a:lstStyle>
          <a:p>
            <a:pPr/>
            <a:r>
              <a:t>Live demo is available for feedback</a:t>
            </a:r>
          </a:p>
        </p:txBody>
      </p:sp>
      <p:sp>
        <p:nvSpPr>
          <p:cNvPr id="185" name="Weather AI app - http://3.0.28.161:8000/…"/>
          <p:cNvSpPr txBox="1"/>
          <p:nvPr/>
        </p:nvSpPr>
        <p:spPr>
          <a:xfrm>
            <a:off x="1395579" y="2729952"/>
            <a:ext cx="12084813" cy="327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Weather AI app -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http://3.0.28.161:8000/</a:t>
            </a:r>
          </a:p>
          <a:p>
            <a:pPr/>
            <a:r>
              <a:t>Training Monitoring -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http://3.0.28.161:8000/training</a:t>
            </a:r>
          </a:p>
        </p:txBody>
      </p:sp>
      <p:sp>
        <p:nvSpPr>
          <p:cNvPr id="186" name="This is live monitor for the training process…"/>
          <p:cNvSpPr txBox="1"/>
          <p:nvPr/>
        </p:nvSpPr>
        <p:spPr>
          <a:xfrm>
            <a:off x="363275" y="5018710"/>
            <a:ext cx="8451218" cy="714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This is live monitor for the training process </a:t>
            </a:r>
          </a:p>
          <a:p>
            <a:pPr marL="534736" indent="-534736">
              <a:buSzPct val="100000"/>
              <a:buAutoNum type="arabicPeriod" startAt="1"/>
              <a:defRPr sz="3500"/>
            </a:pPr>
            <a:r>
              <a:t>Download raw data including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satellite from Japan site and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raining, temperature, humanity and PM2.5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data.gov.sg</a:t>
            </a:r>
          </a:p>
          <a:p>
            <a:pPr lvl="1" marL="975894" indent="-467894">
              <a:buSzPct val="100000"/>
              <a:buAutoNum type="arabicPeriod" startAt="1"/>
            </a:pPr>
            <a:r>
              <a:rPr sz="3500"/>
              <a:t>All data will be parked in S3 bucket for further processing</a:t>
            </a:r>
            <a:r>
              <a:t>  </a:t>
            </a:r>
          </a:p>
        </p:txBody>
      </p:sp>
      <p:sp>
        <p:nvSpPr>
          <p:cNvPr id="187" name="Pre-Processing data will download the data perform…"/>
          <p:cNvSpPr txBox="1"/>
          <p:nvPr/>
        </p:nvSpPr>
        <p:spPr>
          <a:xfrm>
            <a:off x="9179771" y="5685388"/>
            <a:ext cx="6834171" cy="6485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34736" indent="-534736">
              <a:buSzPct val="100000"/>
              <a:buAutoNum type="arabicPeriod" startAt="1"/>
              <a:defRPr sz="3500"/>
            </a:pPr>
          </a:p>
          <a:p>
            <a:pPr marL="534736" indent="-534736">
              <a:buSzPct val="100000"/>
              <a:buAutoNum type="arabicPeriod" startAt="2"/>
              <a:defRPr sz="3500"/>
            </a:pPr>
            <a:r>
              <a:t>Pre-Processing data will download the data perform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cleansing,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data alignment based on different frequency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Train the model for forecast</a:t>
            </a:r>
          </a:p>
        </p:txBody>
      </p:sp>
      <p:sp>
        <p:nvSpPr>
          <p:cNvPr id="188" name="Forecast weather…"/>
          <p:cNvSpPr txBox="1"/>
          <p:nvPr/>
        </p:nvSpPr>
        <p:spPr>
          <a:xfrm>
            <a:off x="16379220" y="4619921"/>
            <a:ext cx="7330856" cy="762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34736" indent="-534736">
              <a:buSzPct val="100000"/>
              <a:buAutoNum type="arabicPeriod" startAt="1"/>
              <a:defRPr sz="3500"/>
            </a:pPr>
          </a:p>
          <a:p>
            <a:pPr marL="534736" indent="-534736">
              <a:buSzPct val="100000"/>
              <a:buAutoNum type="arabicPeriod" startAt="2"/>
              <a:defRPr sz="3500"/>
            </a:pPr>
          </a:p>
          <a:p>
            <a:pPr marL="534736" indent="-534736">
              <a:buSzPct val="100000"/>
              <a:buAutoNum type="arabicPeriod" startAt="3"/>
              <a:defRPr sz="3500"/>
            </a:pPr>
            <a:r>
              <a:t>Forecast weather 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Forecast if it will rain based on the location asked </a:t>
            </a:r>
          </a:p>
          <a:p>
            <a:pPr lvl="1" marL="1042736" indent="-534736">
              <a:buSzPct val="100000"/>
              <a:buAutoNum type="arabicPeriod" startAt="1"/>
              <a:defRPr sz="3500"/>
            </a:pPr>
            <a:r>
              <a:t>Store the data (location and forecast outcome for further improvement on the accuracy of the model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ath / Route Search makes the search easi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97022">
              <a:defRPr sz="8600"/>
            </a:lvl1pPr>
          </a:lstStyle>
          <a:p>
            <a:pPr/>
            <a:r>
              <a:t>End-2-End Flow Chart of Data Process</a:t>
            </a:r>
          </a:p>
        </p:txBody>
      </p:sp>
      <p:pic>
        <p:nvPicPr>
          <p:cNvPr id="191" name="Data-Processing-FlowChart-v0.1.png" descr="Data-Processing-FlowChart-v0.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99254" y="2498122"/>
            <a:ext cx="18585492" cy="109421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A7A7A7"/>
      </a:dk2>
      <a:lt2>
        <a:srgbClr val="535353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Produkt Extralight"/>
            <a:ea typeface="Produkt Extralight"/>
            <a:cs typeface="Produkt Extralight"/>
            <a:sym typeface="Produkt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Produkt Extralight"/>
            <a:ea typeface="Produkt Extralight"/>
            <a:cs typeface="Produkt Extralight"/>
            <a:sym typeface="Produkt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Produkt Extralight"/>
            <a:ea typeface="Produkt Extralight"/>
            <a:cs typeface="Produkt Extralight"/>
            <a:sym typeface="Produkt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53585F"/>
            </a:solidFill>
            <a:effectLst/>
            <a:uFillTx/>
            <a:latin typeface="Produkt Extralight"/>
            <a:ea typeface="Produkt Extralight"/>
            <a:cs typeface="Produkt Extralight"/>
            <a:sym typeface="Produkt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